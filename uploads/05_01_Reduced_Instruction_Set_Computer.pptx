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04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063478" y="0"/>
            <a:ext cx="1075448" cy="101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61994" y="109219"/>
            <a:ext cx="466598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6F2F9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7122" y="2478100"/>
            <a:ext cx="10077754" cy="2776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6574559"/>
            <a:ext cx="12204700" cy="290195"/>
            <a:chOff x="-6350" y="6574559"/>
            <a:chExt cx="12204700" cy="290195"/>
          </a:xfrm>
        </p:grpSpPr>
        <p:sp>
          <p:nvSpPr>
            <p:cNvPr id="3" name="object 3"/>
            <p:cNvSpPr/>
            <p:nvPr/>
          </p:nvSpPr>
          <p:spPr>
            <a:xfrm>
              <a:off x="0" y="6580909"/>
              <a:ext cx="12192000" cy="2770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580909"/>
              <a:ext cx="12192000" cy="277495"/>
            </a:xfrm>
            <a:custGeom>
              <a:avLst/>
              <a:gdLst/>
              <a:ahLst/>
              <a:cxnLst/>
              <a:rect l="l" t="t" r="r" b="b"/>
              <a:pathLst>
                <a:path w="12192000" h="277495">
                  <a:moveTo>
                    <a:pt x="0" y="277088"/>
                  </a:moveTo>
                  <a:lnTo>
                    <a:pt x="12192000" y="27708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770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26460" y="6546595"/>
            <a:ext cx="6337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 HYDERABAD College of Engineering for</a:t>
            </a:r>
            <a:r>
              <a:rPr sz="2000" b="1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063478" y="0"/>
            <a:ext cx="1075448" cy="1012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70661" y="1074241"/>
            <a:ext cx="108489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" dirty="0">
                <a:solidFill>
                  <a:srgbClr val="006FC0"/>
                </a:solidFill>
              </a:rPr>
              <a:t>Computer Organization </a:t>
            </a:r>
            <a:r>
              <a:rPr sz="4800" dirty="0">
                <a:solidFill>
                  <a:srgbClr val="006FC0"/>
                </a:solidFill>
              </a:rPr>
              <a:t>and</a:t>
            </a:r>
            <a:r>
              <a:rPr sz="4800" spc="-335" dirty="0">
                <a:solidFill>
                  <a:srgbClr val="006FC0"/>
                </a:solidFill>
              </a:rPr>
              <a:t> </a:t>
            </a:r>
            <a:r>
              <a:rPr sz="4800" spc="-15" dirty="0">
                <a:solidFill>
                  <a:srgbClr val="006FC0"/>
                </a:solidFill>
              </a:rPr>
              <a:t>Architecture</a:t>
            </a:r>
            <a:endParaRPr sz="4800"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1057122" y="2478100"/>
            <a:ext cx="10077754" cy="37837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dirty="0"/>
              <a:t>UNIT –</a:t>
            </a:r>
            <a:r>
              <a:rPr spc="-185" dirty="0"/>
              <a:t> </a:t>
            </a:r>
            <a:r>
              <a:rPr dirty="0"/>
              <a:t>V</a:t>
            </a:r>
          </a:p>
          <a:p>
            <a:pPr marL="1270" algn="ctr">
              <a:lnSpc>
                <a:spcPct val="100000"/>
              </a:lnSpc>
              <a:spcBef>
                <a:spcPts val="15"/>
              </a:spcBef>
            </a:pPr>
            <a:r>
              <a:rPr sz="4000" spc="-5" dirty="0">
                <a:solidFill>
                  <a:srgbClr val="00AF50"/>
                </a:solidFill>
              </a:rPr>
              <a:t>Reduced Instruction Set</a:t>
            </a:r>
            <a:r>
              <a:rPr sz="4000" spc="60" dirty="0">
                <a:solidFill>
                  <a:srgbClr val="00AF50"/>
                </a:solidFill>
              </a:rPr>
              <a:t> </a:t>
            </a:r>
            <a:r>
              <a:rPr sz="4000" spc="-5" dirty="0">
                <a:solidFill>
                  <a:srgbClr val="00AF50"/>
                </a:solidFill>
              </a:rPr>
              <a:t>Computer</a:t>
            </a:r>
            <a:endParaRPr sz="4000" dirty="0"/>
          </a:p>
          <a:p>
            <a:pPr marL="13335" marR="5080" algn="ctr">
              <a:lnSpc>
                <a:spcPct val="100000"/>
              </a:lnSpc>
              <a:spcBef>
                <a:spcPts val="3875"/>
              </a:spcBef>
            </a:pPr>
            <a:r>
              <a:rPr sz="3200" spc="-10" dirty="0">
                <a:solidFill>
                  <a:srgbClr val="000000"/>
                </a:solidFill>
              </a:rPr>
              <a:t>Prof. </a:t>
            </a:r>
            <a:r>
              <a:rPr sz="3200" dirty="0">
                <a:solidFill>
                  <a:srgbClr val="000000"/>
                </a:solidFill>
              </a:rPr>
              <a:t>Murali Nath R S, Ms. </a:t>
            </a:r>
            <a:r>
              <a:rPr lang="en-US" sz="3200" dirty="0">
                <a:solidFill>
                  <a:srgbClr val="000000"/>
                </a:solidFill>
              </a:rPr>
              <a:t>Y Divya</a:t>
            </a:r>
            <a:r>
              <a:rPr sz="3200" spc="5" dirty="0">
                <a:solidFill>
                  <a:srgbClr val="000000"/>
                </a:solidFill>
              </a:rPr>
              <a:t> &amp; </a:t>
            </a:r>
            <a:r>
              <a:rPr sz="3200" dirty="0">
                <a:solidFill>
                  <a:srgbClr val="000000"/>
                </a:solidFill>
              </a:rPr>
              <a:t>Ms. </a:t>
            </a:r>
            <a:r>
              <a:rPr lang="en-US" sz="3200" dirty="0">
                <a:solidFill>
                  <a:srgbClr val="000000"/>
                </a:solidFill>
              </a:rPr>
              <a:t>E </a:t>
            </a:r>
            <a:r>
              <a:rPr lang="en-US" sz="3200">
                <a:solidFill>
                  <a:srgbClr val="000000"/>
                </a:solidFill>
              </a:rPr>
              <a:t>G Padmavati</a:t>
            </a:r>
          </a:p>
          <a:p>
            <a:pPr marL="13335" marR="5080" algn="ctr">
              <a:lnSpc>
                <a:spcPct val="100000"/>
              </a:lnSpc>
              <a:spcBef>
                <a:spcPts val="3875"/>
              </a:spcBef>
            </a:pPr>
            <a:r>
              <a:rPr sz="3200">
                <a:solidFill>
                  <a:srgbClr val="000000"/>
                </a:solidFill>
              </a:rPr>
              <a:t>  </a:t>
            </a:r>
            <a:r>
              <a:rPr sz="3200" dirty="0">
                <a:solidFill>
                  <a:srgbClr val="000000"/>
                </a:solidFill>
              </a:rPr>
              <a:t>Department of Computer Science &amp;</a:t>
            </a:r>
            <a:r>
              <a:rPr sz="3200" spc="-150" dirty="0">
                <a:solidFill>
                  <a:srgbClr val="000000"/>
                </a:solidFill>
              </a:rPr>
              <a:t> </a:t>
            </a:r>
            <a:r>
              <a:rPr sz="3200" dirty="0">
                <a:solidFill>
                  <a:srgbClr val="000000"/>
                </a:solidFill>
              </a:rPr>
              <a:t>Engineering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63478" y="0"/>
            <a:ext cx="1075448" cy="1012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227" y="147969"/>
            <a:ext cx="9185910" cy="672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Why Should I Study this</a:t>
            </a:r>
            <a:r>
              <a:rPr sz="4000" b="1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course?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Examples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Times New Roman"/>
              <a:cs typeface="Times New Roman"/>
            </a:endParaRPr>
          </a:p>
          <a:p>
            <a:pPr marL="28733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 HYDERABAD College of Engineering for</a:t>
            </a:r>
            <a:r>
              <a:rPr sz="2000" b="1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-6350" y="0"/>
            <a:ext cx="12204700" cy="6864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CISC</a:t>
            </a:r>
            <a:r>
              <a:rPr spc="-25" dirty="0"/>
              <a:t> </a:t>
            </a:r>
            <a:r>
              <a:rPr spc="-5" dirty="0"/>
              <a:t>Characteristics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806932"/>
            <a:ext cx="11659870" cy="570166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3200" dirty="0">
                <a:latin typeface="Times New Roman"/>
                <a:cs typeface="Times New Roman"/>
              </a:rPr>
              <a:t>The major characteristics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are:</a:t>
            </a:r>
            <a:endParaRPr sz="3200">
              <a:latin typeface="Times New Roman"/>
              <a:cs typeface="Times New Roman"/>
            </a:endParaRPr>
          </a:p>
          <a:p>
            <a:pPr marL="396240" indent="-384175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96875" algn="l"/>
              </a:tabLst>
            </a:pP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10" dirty="0">
                <a:latin typeface="Times New Roman"/>
                <a:cs typeface="Times New Roman"/>
              </a:rPr>
              <a:t>large </a:t>
            </a:r>
            <a:r>
              <a:rPr sz="3200" dirty="0">
                <a:latin typeface="Times New Roman"/>
                <a:cs typeface="Times New Roman"/>
              </a:rPr>
              <a:t>number of instructions-typically from 100 to 250</a:t>
            </a:r>
            <a:r>
              <a:rPr sz="3200" spc="-30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instructions</a:t>
            </a:r>
            <a:endParaRPr sz="3200">
              <a:latin typeface="Times New Roman"/>
              <a:cs typeface="Times New Roman"/>
            </a:endParaRPr>
          </a:p>
          <a:p>
            <a:pPr marL="12700" marR="1226185">
              <a:lnSpc>
                <a:spcPct val="150000"/>
              </a:lnSpc>
              <a:spcBef>
                <a:spcPts val="5"/>
              </a:spcBef>
              <a:buAutoNum type="arabicPeriod"/>
              <a:tabLst>
                <a:tab pos="420370" algn="l"/>
              </a:tabLst>
            </a:pPr>
            <a:r>
              <a:rPr sz="3200" dirty="0">
                <a:latin typeface="Times New Roman"/>
                <a:cs typeface="Times New Roman"/>
              </a:rPr>
              <a:t>Some instructions that perform specialized tasks and are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used  infrequently</a:t>
            </a:r>
            <a:endParaRPr sz="3200">
              <a:latin typeface="Times New Roman"/>
              <a:cs typeface="Times New Roman"/>
            </a:endParaRPr>
          </a:p>
          <a:p>
            <a:pPr marL="12700" marR="225425">
              <a:lnSpc>
                <a:spcPct val="150000"/>
              </a:lnSpc>
              <a:buAutoNum type="arabicPeriod"/>
              <a:tabLst>
                <a:tab pos="396875" algn="l"/>
              </a:tabLst>
            </a:pPr>
            <a:r>
              <a:rPr sz="3200" dirty="0">
                <a:latin typeface="Times New Roman"/>
                <a:cs typeface="Times New Roman"/>
              </a:rPr>
              <a:t>A </a:t>
            </a:r>
            <a:r>
              <a:rPr sz="3200" spc="-10" dirty="0">
                <a:latin typeface="Times New Roman"/>
                <a:cs typeface="Times New Roman"/>
              </a:rPr>
              <a:t>large </a:t>
            </a:r>
            <a:r>
              <a:rPr sz="3200" dirty="0">
                <a:latin typeface="Times New Roman"/>
                <a:cs typeface="Times New Roman"/>
              </a:rPr>
              <a:t>variety of addressing modes-typically from 5 to 20</a:t>
            </a:r>
            <a:r>
              <a:rPr sz="3200" spc="-28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different  </a:t>
            </a:r>
            <a:r>
              <a:rPr sz="3200" dirty="0">
                <a:latin typeface="Times New Roman"/>
                <a:cs typeface="Times New Roman"/>
              </a:rPr>
              <a:t>modes</a:t>
            </a:r>
            <a:endParaRPr sz="3200">
              <a:latin typeface="Times New Roman"/>
              <a:cs typeface="Times New Roman"/>
            </a:endParaRPr>
          </a:p>
          <a:p>
            <a:pPr marL="411480" indent="-399415">
              <a:lnSpc>
                <a:spcPct val="100000"/>
              </a:lnSpc>
              <a:spcBef>
                <a:spcPts val="1925"/>
              </a:spcBef>
              <a:buAutoNum type="arabicPeriod"/>
              <a:tabLst>
                <a:tab pos="412115" algn="l"/>
              </a:tabLst>
            </a:pPr>
            <a:r>
              <a:rPr sz="3200" spc="-25" dirty="0">
                <a:latin typeface="Times New Roman"/>
                <a:cs typeface="Times New Roman"/>
              </a:rPr>
              <a:t>Variable-length </a:t>
            </a:r>
            <a:r>
              <a:rPr sz="3200" dirty="0">
                <a:latin typeface="Times New Roman"/>
                <a:cs typeface="Times New Roman"/>
              </a:rPr>
              <a:t>instruction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formats</a:t>
            </a:r>
            <a:endParaRPr sz="3200">
              <a:latin typeface="Times New Roman"/>
              <a:cs typeface="Times New Roman"/>
            </a:endParaRPr>
          </a:p>
          <a:p>
            <a:pPr marL="419100" indent="-407034">
              <a:lnSpc>
                <a:spcPct val="100000"/>
              </a:lnSpc>
              <a:spcBef>
                <a:spcPts val="1920"/>
              </a:spcBef>
              <a:buAutoNum type="arabicPeriod"/>
              <a:tabLst>
                <a:tab pos="419734" algn="l"/>
              </a:tabLst>
            </a:pPr>
            <a:r>
              <a:rPr sz="3200" dirty="0">
                <a:latin typeface="Times New Roman"/>
                <a:cs typeface="Times New Roman"/>
              </a:rPr>
              <a:t>Instructions that manipulate operands in</a:t>
            </a:r>
            <a:r>
              <a:rPr sz="3200" spc="-1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memory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63478" y="0"/>
            <a:ext cx="1075448" cy="1012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5227" y="147969"/>
            <a:ext cx="9185910" cy="6721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360"/>
              </a:lnSpc>
            </a:pP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Why Should I Study this</a:t>
            </a:r>
            <a:r>
              <a:rPr sz="4000" b="1" spc="8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4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course?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6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sz="2600" b="1" dirty="0">
                <a:latin typeface="Times New Roman"/>
                <a:cs typeface="Times New Roman"/>
              </a:rPr>
              <a:t>Examples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750">
              <a:latin typeface="Times New Roman"/>
              <a:cs typeface="Times New Roman"/>
            </a:endParaRPr>
          </a:p>
          <a:p>
            <a:pPr marL="2873375">
              <a:lnSpc>
                <a:spcPct val="100000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 HYDERABAD College of Engineering for</a:t>
            </a:r>
            <a:r>
              <a:rPr sz="2000" b="1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-6350" y="0"/>
            <a:ext cx="12204700" cy="68643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RISC</a:t>
            </a:r>
            <a:r>
              <a:rPr spc="-25" dirty="0"/>
              <a:t> </a:t>
            </a:r>
            <a:r>
              <a:rPr spc="-5" dirty="0"/>
              <a:t>Characteristics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8739" y="759688"/>
            <a:ext cx="9027160" cy="5552440"/>
          </a:xfrm>
          <a:prstGeom prst="rect">
            <a:avLst/>
          </a:prstGeom>
        </p:spPr>
        <p:txBody>
          <a:bodyPr vert="horz" wrap="square" lIns="0" tIns="215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3200" dirty="0">
                <a:latin typeface="Times New Roman"/>
                <a:cs typeface="Times New Roman"/>
              </a:rPr>
              <a:t>The major characteristics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are:</a:t>
            </a:r>
            <a:endParaRPr sz="3200">
              <a:latin typeface="Times New Roman"/>
              <a:cs typeface="Times New Roman"/>
            </a:endParaRPr>
          </a:p>
          <a:p>
            <a:pPr marL="419100" indent="-407034">
              <a:lnSpc>
                <a:spcPct val="100000"/>
              </a:lnSpc>
              <a:spcBef>
                <a:spcPts val="1595"/>
              </a:spcBef>
              <a:buAutoNum type="arabicPeriod"/>
              <a:tabLst>
                <a:tab pos="419734" algn="l"/>
              </a:tabLst>
            </a:pPr>
            <a:r>
              <a:rPr sz="3200" dirty="0">
                <a:latin typeface="Times New Roman"/>
                <a:cs typeface="Times New Roman"/>
              </a:rPr>
              <a:t>Relatively few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instructions</a:t>
            </a:r>
            <a:endParaRPr sz="3200">
              <a:latin typeface="Times New Roman"/>
              <a:cs typeface="Times New Roman"/>
            </a:endParaRPr>
          </a:p>
          <a:p>
            <a:pPr marL="419734" indent="-407670">
              <a:lnSpc>
                <a:spcPct val="100000"/>
              </a:lnSpc>
              <a:spcBef>
                <a:spcPts val="1600"/>
              </a:spcBef>
              <a:buAutoNum type="arabicPeriod"/>
              <a:tabLst>
                <a:tab pos="420370" algn="l"/>
              </a:tabLst>
            </a:pPr>
            <a:r>
              <a:rPr sz="3200" dirty="0">
                <a:latin typeface="Times New Roman"/>
                <a:cs typeface="Times New Roman"/>
              </a:rPr>
              <a:t>Relatively few addressing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modes</a:t>
            </a:r>
            <a:endParaRPr sz="3200">
              <a:latin typeface="Times New Roman"/>
              <a:cs typeface="Times New Roman"/>
            </a:endParaRPr>
          </a:p>
          <a:p>
            <a:pPr marL="419100" indent="-407034">
              <a:lnSpc>
                <a:spcPct val="100000"/>
              </a:lnSpc>
              <a:spcBef>
                <a:spcPts val="1605"/>
              </a:spcBef>
              <a:buAutoNum type="arabicPeriod"/>
              <a:tabLst>
                <a:tab pos="419734" algn="l"/>
              </a:tabLst>
            </a:pPr>
            <a:r>
              <a:rPr sz="3200" dirty="0">
                <a:latin typeface="Times New Roman"/>
                <a:cs typeface="Times New Roman"/>
              </a:rPr>
              <a:t>Memory access limited to load and store</a:t>
            </a:r>
            <a:r>
              <a:rPr sz="3200" spc="-9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instructions</a:t>
            </a:r>
            <a:endParaRPr sz="3200">
              <a:latin typeface="Times New Roman"/>
              <a:cs typeface="Times New Roman"/>
            </a:endParaRPr>
          </a:p>
          <a:p>
            <a:pPr marL="396240" indent="-384175">
              <a:lnSpc>
                <a:spcPct val="100000"/>
              </a:lnSpc>
              <a:spcBef>
                <a:spcPts val="1600"/>
              </a:spcBef>
              <a:buAutoNum type="arabicPeriod"/>
              <a:tabLst>
                <a:tab pos="396875" algn="l"/>
              </a:tabLst>
            </a:pPr>
            <a:r>
              <a:rPr sz="3200" dirty="0">
                <a:latin typeface="Times New Roman"/>
                <a:cs typeface="Times New Roman"/>
              </a:rPr>
              <a:t>All operations done within the registers of the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CPU</a:t>
            </a:r>
            <a:endParaRPr sz="3200">
              <a:latin typeface="Times New Roman"/>
              <a:cs typeface="Times New Roman"/>
            </a:endParaRPr>
          </a:p>
          <a:p>
            <a:pPr marL="419100" indent="-407034">
              <a:lnSpc>
                <a:spcPct val="100000"/>
              </a:lnSpc>
              <a:spcBef>
                <a:spcPts val="1595"/>
              </a:spcBef>
              <a:buAutoNum type="arabicPeriod"/>
              <a:tabLst>
                <a:tab pos="419734" algn="l"/>
              </a:tabLst>
            </a:pPr>
            <a:r>
              <a:rPr sz="3200" dirty="0">
                <a:latin typeface="Times New Roman"/>
                <a:cs typeface="Times New Roman"/>
              </a:rPr>
              <a:t>Fixed-length, easily decoded instruction</a:t>
            </a:r>
            <a:r>
              <a:rPr sz="3200" spc="-1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format</a:t>
            </a:r>
            <a:endParaRPr sz="3200">
              <a:latin typeface="Times New Roman"/>
              <a:cs typeface="Times New Roman"/>
            </a:endParaRPr>
          </a:p>
          <a:p>
            <a:pPr marL="419100" indent="-407034">
              <a:lnSpc>
                <a:spcPct val="100000"/>
              </a:lnSpc>
              <a:spcBef>
                <a:spcPts val="1610"/>
              </a:spcBef>
              <a:buAutoNum type="arabicPeriod"/>
              <a:tabLst>
                <a:tab pos="419734" algn="l"/>
              </a:tabLst>
            </a:pPr>
            <a:r>
              <a:rPr sz="3200" dirty="0">
                <a:latin typeface="Times New Roman"/>
                <a:cs typeface="Times New Roman"/>
              </a:rPr>
              <a:t>Single-cycle instruction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execution</a:t>
            </a:r>
            <a:endParaRPr sz="3200">
              <a:latin typeface="Times New Roman"/>
              <a:cs typeface="Times New Roman"/>
            </a:endParaRPr>
          </a:p>
          <a:p>
            <a:pPr marL="419100" indent="-407034">
              <a:lnSpc>
                <a:spcPct val="100000"/>
              </a:lnSpc>
              <a:spcBef>
                <a:spcPts val="1595"/>
              </a:spcBef>
              <a:buAutoNum type="arabicPeriod"/>
              <a:tabLst>
                <a:tab pos="419734" algn="l"/>
              </a:tabLst>
            </a:pPr>
            <a:r>
              <a:rPr sz="3200" dirty="0">
                <a:latin typeface="Times New Roman"/>
                <a:cs typeface="Times New Roman"/>
              </a:rPr>
              <a:t>Hardwired rather than microprogrammed</a:t>
            </a:r>
            <a:r>
              <a:rPr sz="3200" spc="-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control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9160" y="6587008"/>
            <a:ext cx="6311900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 HYDERABAD College of Engineering for</a:t>
            </a:r>
            <a:r>
              <a:rPr sz="2000" b="1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-6350" y="0"/>
            <a:ext cx="12204700" cy="6864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39" y="174751"/>
            <a:ext cx="11396980" cy="4626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Other characteristics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are:</a:t>
            </a:r>
            <a:endParaRPr sz="3200">
              <a:latin typeface="Times New Roman"/>
              <a:cs typeface="Times New Roman"/>
            </a:endParaRPr>
          </a:p>
          <a:p>
            <a:pPr marL="396240" indent="-384175">
              <a:lnSpc>
                <a:spcPct val="100000"/>
              </a:lnSpc>
              <a:spcBef>
                <a:spcPts val="3125"/>
              </a:spcBef>
              <a:buAutoNum type="arabicPeriod"/>
              <a:tabLst>
                <a:tab pos="396875" algn="l"/>
              </a:tabLst>
            </a:pPr>
            <a:r>
              <a:rPr sz="3200" dirty="0">
                <a:latin typeface="Times New Roman"/>
                <a:cs typeface="Times New Roman"/>
              </a:rPr>
              <a:t>A relatively </a:t>
            </a:r>
            <a:r>
              <a:rPr sz="3200" spc="-15" dirty="0">
                <a:latin typeface="Times New Roman"/>
                <a:cs typeface="Times New Roman"/>
              </a:rPr>
              <a:t>large </a:t>
            </a:r>
            <a:r>
              <a:rPr sz="3200" dirty="0">
                <a:latin typeface="Times New Roman"/>
                <a:cs typeface="Times New Roman"/>
              </a:rPr>
              <a:t>number of registers in the processor</a:t>
            </a:r>
            <a:r>
              <a:rPr sz="3200" spc="-3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unit</a:t>
            </a:r>
            <a:endParaRPr sz="3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1895"/>
              </a:spcBef>
              <a:buAutoNum type="arabicPeriod"/>
              <a:tabLst>
                <a:tab pos="419734" algn="l"/>
              </a:tabLst>
            </a:pPr>
            <a:r>
              <a:rPr sz="3200" dirty="0">
                <a:latin typeface="Times New Roman"/>
                <a:cs typeface="Times New Roman"/>
              </a:rPr>
              <a:t>Use of overlapped register windows to </a:t>
            </a:r>
            <a:r>
              <a:rPr sz="3200" spc="5" dirty="0">
                <a:latin typeface="Times New Roman"/>
                <a:cs typeface="Times New Roman"/>
              </a:rPr>
              <a:t>speed-up </a:t>
            </a:r>
            <a:r>
              <a:rPr sz="3200" dirty="0">
                <a:latin typeface="Times New Roman"/>
                <a:cs typeface="Times New Roman"/>
              </a:rPr>
              <a:t>procedure call</a:t>
            </a:r>
            <a:r>
              <a:rPr sz="3200" spc="-1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and  return</a:t>
            </a:r>
            <a:endParaRPr sz="3200">
              <a:latin typeface="Times New Roman"/>
              <a:cs typeface="Times New Roman"/>
            </a:endParaRPr>
          </a:p>
          <a:p>
            <a:pPr marL="419100" indent="-407034">
              <a:lnSpc>
                <a:spcPct val="100000"/>
              </a:lnSpc>
              <a:spcBef>
                <a:spcPts val="2430"/>
              </a:spcBef>
              <a:buAutoNum type="arabicPeriod"/>
              <a:tabLst>
                <a:tab pos="419734" algn="l"/>
              </a:tabLst>
            </a:pPr>
            <a:r>
              <a:rPr sz="3200" spc="-10" dirty="0">
                <a:latin typeface="Times New Roman"/>
                <a:cs typeface="Times New Roman"/>
              </a:rPr>
              <a:t>Efficient </a:t>
            </a:r>
            <a:r>
              <a:rPr sz="3200" dirty="0">
                <a:latin typeface="Times New Roman"/>
                <a:cs typeface="Times New Roman"/>
              </a:rPr>
              <a:t>instruction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pipeline</a:t>
            </a:r>
            <a:endParaRPr sz="3200">
              <a:latin typeface="Times New Roman"/>
              <a:cs typeface="Times New Roman"/>
            </a:endParaRPr>
          </a:p>
          <a:p>
            <a:pPr marL="12700" marR="508634">
              <a:lnSpc>
                <a:spcPct val="100000"/>
              </a:lnSpc>
              <a:spcBef>
                <a:spcPts val="1895"/>
              </a:spcBef>
              <a:buAutoNum type="arabicPeriod"/>
              <a:tabLst>
                <a:tab pos="420370" algn="l"/>
              </a:tabLst>
            </a:pPr>
            <a:r>
              <a:rPr sz="3200" dirty="0">
                <a:latin typeface="Times New Roman"/>
                <a:cs typeface="Times New Roman"/>
              </a:rPr>
              <a:t>Compiler support for </a:t>
            </a:r>
            <a:r>
              <a:rPr sz="3200" spc="-5" dirty="0">
                <a:latin typeface="Times New Roman"/>
                <a:cs typeface="Times New Roman"/>
              </a:rPr>
              <a:t>efficient </a:t>
            </a:r>
            <a:r>
              <a:rPr sz="3200" dirty="0">
                <a:latin typeface="Times New Roman"/>
                <a:cs typeface="Times New Roman"/>
              </a:rPr>
              <a:t>translation of </a:t>
            </a:r>
            <a:r>
              <a:rPr sz="3200" spc="5" dirty="0">
                <a:latin typeface="Times New Roman"/>
                <a:cs typeface="Times New Roman"/>
              </a:rPr>
              <a:t>high-level</a:t>
            </a:r>
            <a:r>
              <a:rPr sz="3200" spc="-1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language  programs into machine language</a:t>
            </a:r>
            <a:r>
              <a:rPr sz="3200" spc="-114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programs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63478" y="0"/>
            <a:ext cx="1075448" cy="10121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6574559"/>
            <a:ext cx="12204700" cy="290195"/>
            <a:chOff x="-6350" y="6574559"/>
            <a:chExt cx="12204700" cy="290195"/>
          </a:xfrm>
        </p:grpSpPr>
        <p:sp>
          <p:nvSpPr>
            <p:cNvPr id="4" name="object 4"/>
            <p:cNvSpPr/>
            <p:nvPr/>
          </p:nvSpPr>
          <p:spPr>
            <a:xfrm>
              <a:off x="0" y="6580909"/>
              <a:ext cx="12192000" cy="27708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80909"/>
              <a:ext cx="12192000" cy="277495"/>
            </a:xfrm>
            <a:custGeom>
              <a:avLst/>
              <a:gdLst/>
              <a:ahLst/>
              <a:cxnLst/>
              <a:rect l="l" t="t" r="r" b="b"/>
              <a:pathLst>
                <a:path w="12192000" h="277495">
                  <a:moveTo>
                    <a:pt x="0" y="277088"/>
                  </a:moveTo>
                  <a:lnTo>
                    <a:pt x="12192000" y="27708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277088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926460" y="6546595"/>
            <a:ext cx="63373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BVRIT HYDERABAD College of Engineering for</a:t>
            </a:r>
            <a:r>
              <a:rPr sz="2000" b="1" spc="-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Women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97273" y="2227833"/>
            <a:ext cx="399224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0" i="1" spc="5" dirty="0">
                <a:solidFill>
                  <a:srgbClr val="00AF50"/>
                </a:solidFill>
                <a:latin typeface="Z003"/>
                <a:cs typeface="Z003"/>
              </a:rPr>
              <a:t>Thank</a:t>
            </a:r>
            <a:r>
              <a:rPr sz="8000" b="0" i="1" spc="-120" dirty="0">
                <a:solidFill>
                  <a:srgbClr val="00AF50"/>
                </a:solidFill>
                <a:latin typeface="Z003"/>
                <a:cs typeface="Z003"/>
              </a:rPr>
              <a:t> </a:t>
            </a:r>
            <a:r>
              <a:rPr sz="8000" b="0" i="1" spc="5" dirty="0">
                <a:solidFill>
                  <a:srgbClr val="00AF50"/>
                </a:solidFill>
                <a:latin typeface="Z003"/>
                <a:cs typeface="Z003"/>
              </a:rPr>
              <a:t>You</a:t>
            </a:r>
            <a:endParaRPr sz="8000">
              <a:latin typeface="Z003"/>
              <a:cs typeface="Z0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222</Words>
  <Application>Microsoft Office PowerPoint</Application>
  <PresentationFormat>Widescreen</PresentationFormat>
  <Paragraphs>60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Times New Roman</vt:lpstr>
      <vt:lpstr>Z003</vt:lpstr>
      <vt:lpstr>Office Theme</vt:lpstr>
      <vt:lpstr>Computer Organization and Architecture</vt:lpstr>
      <vt:lpstr>CISC Characteristics</vt:lpstr>
      <vt:lpstr>RISC Characteristics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Srinivasa Reddy Konda</dc:creator>
  <cp:lastModifiedBy>Jns pavan Kosuri</cp:lastModifiedBy>
  <cp:revision>1</cp:revision>
  <dcterms:created xsi:type="dcterms:W3CDTF">2023-02-09T15:10:56Z</dcterms:created>
  <dcterms:modified xsi:type="dcterms:W3CDTF">2023-02-09T15:14:41Z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2023-02-09T00:00:00Z</vt:filetime>
  </property>
</Properties>
</file>